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75bcc96ea943bd" /><Relationship Type="http://schemas.openxmlformats.org/officeDocument/2006/relationships/extended-properties" Target="/docProps/app.xml" Id="R20133d5dce1f49fa" /><Relationship Type="http://schemas.openxmlformats.org/officeDocument/2006/relationships/officeDocument" Target="/ppt/presentation.xml" Id="R61cb1356651f4d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2d3018f634984"/>
  </p:sldMasterIdLst>
  <p:notesMasterIdLst>
    <p:notesMasterId xmlns:r="http://schemas.openxmlformats.org/officeDocument/2006/relationships" r:id="R3163d3bbed534d6d"/>
  </p:notesMasterIdLst>
  <p:sldIdLst>
    <p:sldId xmlns:r="http://schemas.openxmlformats.org/officeDocument/2006/relationships" id="256" r:id="R6a4f69d12cae437f"/>
    <p:sldId xmlns:r="http://schemas.openxmlformats.org/officeDocument/2006/relationships" id="257" r:id="R1b22c9ac4d7d4098"/>
    <p:sldId xmlns:r="http://schemas.openxmlformats.org/officeDocument/2006/relationships" id="258" r:id="R2c2f6600aa4744de"/>
    <p:sldId xmlns:r="http://schemas.openxmlformats.org/officeDocument/2006/relationships" id="259" r:id="Rc7209a97e54943ef"/>
    <p:sldId xmlns:r="http://schemas.openxmlformats.org/officeDocument/2006/relationships" id="260" r:id="Ra791fab0cb47433b"/>
    <p:sldId xmlns:r="http://schemas.openxmlformats.org/officeDocument/2006/relationships" id="261" r:id="Rbc77e9a740fa4348"/>
    <p:sldId xmlns:r="http://schemas.openxmlformats.org/officeDocument/2006/relationships" id="262" r:id="R8dc271cedc434519"/>
    <p:sldId xmlns:r="http://schemas.openxmlformats.org/officeDocument/2006/relationships" id="263" r:id="R0528220d7ae545a8"/>
    <p:sldId xmlns:r="http://schemas.openxmlformats.org/officeDocument/2006/relationships" id="264" r:id="R85e0a1866d8749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7d4e778c44e7e" /><Relationship Type="http://schemas.openxmlformats.org/officeDocument/2006/relationships/slideMaster" Target="/ppt/slideMasters/slideMaster1.xml" Id="Rf1a2d3018f634984" /><Relationship Type="http://schemas.openxmlformats.org/officeDocument/2006/relationships/notesMaster" Target="/ppt/notesMasters/notesMaster1.xml" Id="R3163d3bbed534d6d" /><Relationship Type="http://schemas.openxmlformats.org/officeDocument/2006/relationships/presProps" Target="/ppt/presProps.xml" Id="R228f758afac04161" /><Relationship Type="http://schemas.openxmlformats.org/officeDocument/2006/relationships/tableStyles" Target="/ppt/tableStyles.xml" Id="R5cdb131161784479" /><Relationship Type="http://schemas.openxmlformats.org/officeDocument/2006/relationships/slide" Target="/ppt/slides/slide1.xml" Id="R6a4f69d12cae437f" /><Relationship Type="http://schemas.openxmlformats.org/officeDocument/2006/relationships/slide" Target="/ppt/slides/slide2.xml" Id="R1b22c9ac4d7d4098" /><Relationship Type="http://schemas.openxmlformats.org/officeDocument/2006/relationships/slide" Target="/ppt/slides/slide3.xml" Id="R2c2f6600aa4744de" /><Relationship Type="http://schemas.openxmlformats.org/officeDocument/2006/relationships/slide" Target="/ppt/slides/slide4.xml" Id="Rc7209a97e54943ef" /><Relationship Type="http://schemas.openxmlformats.org/officeDocument/2006/relationships/slide" Target="/ppt/slides/slide5.xml" Id="Ra791fab0cb47433b" /><Relationship Type="http://schemas.openxmlformats.org/officeDocument/2006/relationships/slide" Target="/ppt/slides/slide6.xml" Id="Rbc77e9a740fa4348" /><Relationship Type="http://schemas.openxmlformats.org/officeDocument/2006/relationships/slide" Target="/ppt/slides/slide7.xml" Id="R8dc271cedc434519" /><Relationship Type="http://schemas.openxmlformats.org/officeDocument/2006/relationships/slide" Target="/ppt/slides/slide8.xml" Id="R0528220d7ae545a8" /><Relationship Type="http://schemas.openxmlformats.org/officeDocument/2006/relationships/slide" Target="/ppt/slides/slide9.xml" Id="R85e0a1866d8749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efbb15594e4d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891cbef8046b1" /><Relationship Type="http://schemas.openxmlformats.org/officeDocument/2006/relationships/notesMaster" Target="/ppt/notesMasters/notesMaster1.xml" Id="R71a17369bd364e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a71da6fcc147e2" /><Relationship Type="http://schemas.openxmlformats.org/officeDocument/2006/relationships/notesMaster" Target="/ppt/notesMasters/notesMaster1.xml" Id="Rfa2b0069e1794c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cd986e6834594" /><Relationship Type="http://schemas.openxmlformats.org/officeDocument/2006/relationships/notesMaster" Target="/ppt/notesMasters/notesMaster1.xml" Id="R61c8f7a48ca7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cd416c88ea402f" /><Relationship Type="http://schemas.openxmlformats.org/officeDocument/2006/relationships/notesMaster" Target="/ppt/notesMasters/notesMaster1.xml" Id="R9604978c7a5b44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98fefa57c042a2" /><Relationship Type="http://schemas.openxmlformats.org/officeDocument/2006/relationships/notesMaster" Target="/ppt/notesMasters/notesMaster1.xml" Id="R51a2966032874d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f8de4a8cfd4d22" /><Relationship Type="http://schemas.openxmlformats.org/officeDocument/2006/relationships/notesMaster" Target="/ppt/notesMasters/notesMaster1.xml" Id="R1dc9d535fdda46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de8ffe962e43b3" /><Relationship Type="http://schemas.openxmlformats.org/officeDocument/2006/relationships/notesMaster" Target="/ppt/notesMasters/notesMaster1.xml" Id="R99305a52838040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e816ef97b34eeb" /><Relationship Type="http://schemas.openxmlformats.org/officeDocument/2006/relationships/notesMaster" Target="/ppt/notesMasters/notesMaster1.xml" Id="R798c5cc315be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4230c9f3074556" /><Relationship Type="http://schemas.openxmlformats.org/officeDocument/2006/relationships/notesMaster" Target="/ppt/notesMasters/notesMaster1.xml" Id="R9d2c7e5cf35245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Project Github/README.md and context/KAROBAAR_AI_FROM_SCRATCH_CONTEXT.md.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structure follows the judging criteria supplied by the hackathon organizers.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context/KAROBAAR_AI_FROM_SCRATCH_CONTEXT.md. The audience examples come from the project definition; no market-size statistic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Github/README.md and Backend/README.md. Karobaar does not issue credit scores or approve financing.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running local application on 7 September 2026. Seed data contains 63 confirmed records across four months.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 implementation and context/KAROBAAR_AI_FROM_SCRATCH_CONTEXT.md. Impact statements describe the product mechanism, not measured field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sources: Project Github/Backend/README.md, app/auth.py, app/services/ledger.py and app/ai. The architecture reflects the current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performed on 7 September 2026: 74 backend tests, frontend production build, production npm audit, and desktop/mobile browser journeys. Financing sources: https://pmybals.pmyp.gov.pk/ ; https://akhuwat.org.pk/programs/loan/products ; https://www.bop.com.pk/BOPEBusinessQarza ; https://www.meezanbank.com/sme-banking/ ; https://www.hbl.com/business/sme-banking/sme-banking/hbl-small-business-finance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items are future work and are not presented as completed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2768c794449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cb5063daf4306" /><Relationship Type="http://schemas.openxmlformats.org/officeDocument/2006/relationships/slideLayout" Target="/ppt/slideLayouts/slideLayout1.xml" Id="Rd06c78c18c604f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6c78c18c604f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085e9660f4230" /><Relationship Type="http://schemas.openxmlformats.org/officeDocument/2006/relationships/image" Target="/ppt/media/image.png" Id="R8654da87312548de" /><Relationship Type="http://schemas.openxmlformats.org/officeDocument/2006/relationships/image" Target="/ppt/media/image.svg" Id="Rf7bbcf0740b54030" /><Relationship Type="http://schemas.openxmlformats.org/officeDocument/2006/relationships/notesSlide" Target="/ppt/notesSlides/notesSlide1.xml" Id="R5a8e93dc60af4e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19382deb4a02" /><Relationship Type="http://schemas.openxmlformats.org/officeDocument/2006/relationships/notesSlide" Target="/ppt/notesSlides/notesSlide2.xml" Id="Rae05b45a1eea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1129b3a674edd" /><Relationship Type="http://schemas.openxmlformats.org/officeDocument/2006/relationships/image" Target="/ppt/media/image2.png" Id="R939b31c3fb24441f" /><Relationship Type="http://schemas.openxmlformats.org/officeDocument/2006/relationships/notesSlide" Target="/ppt/notesSlides/notesSlide3.xml" Id="R923b3dc6c07e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14735db4c43f3" /><Relationship Type="http://schemas.openxmlformats.org/officeDocument/2006/relationships/notesSlide" Target="/ppt/notesSlides/notesSlide4.xml" Id="R6bf475f020c842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dcc5da6ca4121" /><Relationship Type="http://schemas.openxmlformats.org/officeDocument/2006/relationships/image" Target="/ppt/media/image3.png" Id="R84c7001ebb284270" /><Relationship Type="http://schemas.openxmlformats.org/officeDocument/2006/relationships/image" Target="/ppt/media/image4.png" Id="R2ca000d6b3a546ad" /><Relationship Type="http://schemas.openxmlformats.org/officeDocument/2006/relationships/notesSlide" Target="/ppt/notesSlides/notesSlide5.xml" Id="Red6f19467c154d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b9e016ff04fe3" /><Relationship Type="http://schemas.openxmlformats.org/officeDocument/2006/relationships/image" Target="/ppt/media/image5.png" Id="R72679b7d8fb64108" /><Relationship Type="http://schemas.openxmlformats.org/officeDocument/2006/relationships/notesSlide" Target="/ppt/notesSlides/notesSlide6.xml" Id="Rf86e3762c38e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d5a69df4c41fc" /><Relationship Type="http://schemas.openxmlformats.org/officeDocument/2006/relationships/notesSlide" Target="/ppt/notesSlides/notesSlide7.xml" Id="Rbcd2548e278b43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2f4ec4abb4764" /><Relationship Type="http://schemas.openxmlformats.org/officeDocument/2006/relationships/image" Target="/ppt/media/image6.png" Id="Re12ca8829aa04d0b" /><Relationship Type="http://schemas.openxmlformats.org/officeDocument/2006/relationships/notesSlide" Target="/ppt/notesSlides/notesSlide8.xml" Id="R7b023cffeb3e4b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5f2bd0424205" /><Relationship Type="http://schemas.openxmlformats.org/officeDocument/2006/relationships/notesSlide" Target="/ppt/notesSlides/notesSlide9.xml" Id="R1f9eac68ae8f49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1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4da87312548de">
            <a:extLst>
              <a:ext uri="{96DAC541-7B7A-43D3-8B79-37D633B846F1}">
                <asvg:svgBlip xmlns:asvg="http://schemas.microsoft.com/office/drawing/2016/SVG/main" r:embed="Rf7bbcf0740b540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5715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B1AC1-32D9-4265-B7D8-5499BD7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6E6E1-295C-4021-A894-8FEB0627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790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C9B8B-DD08-4C63-8490-0883267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6E7E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6E7E1"/>
                </a:solidFill>
                <a:latin typeface="Arial"/>
                <a:ea typeface="Arial"/>
                <a:cs typeface="Arial"/>
              </a:rPr>
              <a:t>Financial evidence from the business records merchants already 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75845-F5C7-4311-9542-A4C8D3B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7658B-9E63-49F1-8B3D-53372E13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Financial Inclusion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59FFC-E962-4C94-826C-A3D19BE3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C7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C7BD"/>
                </a:solidFill>
                <a:latin typeface="Arial"/>
                <a:ea typeface="Arial"/>
                <a:cs typeface="Arial"/>
              </a:rPr>
              <a:t>Voice and receipts become merchant-confirmed records, grounded answers and financing next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22F96-D439-48CC-9027-F8E7467A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TEAM KAROBAAR AI</a:t>
            </a:r>
          </a:p>
        </p:txBody>
      </p:sp>
    </p:spTree>
    <p:extLst>
      <p:ext uri="{BB962C8B-B14F-4D97-AF65-F5344CB8AC3E}">
        <p14:creationId xmlns:p14="http://schemas.microsoft.com/office/powerpoint/2010/main" val="540616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1E46C-E327-4D3A-B19E-C8E09A0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0628E-52C6-4B2E-B5AA-C7536557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Presentation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58C1C-6657-4321-B8FF-A67A071B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4C62A-7D92-4180-9C58-1AA7173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6D35E-B3B0-4958-B461-196A4F85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9B714-FB55-42BA-94DB-3F4AFA01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0225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Problem and audience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CA799-8A43-4A60-AD4D-BE597A54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Where everyday business evidence gets lost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0B50F-5ECF-44B2-B030-68E7BD21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549A0-D383-418F-BD53-6D68E72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445B5-C575-4478-A3DA-94B235E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52775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Karobaar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3BB31-55D9-4EC1-8399-8104C37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How activity becomes a trusted ledger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5356C-1970-4787-9F78-0427144F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17948-CEE9-4AEF-AD76-E6C95A2E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ECBF8-E45C-42AD-B464-15E9D14F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27C7C-EEA8-42E8-BA45-0ABC3B4A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What the merchant can do today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02103-F2A9-4028-B00D-715F34F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17A3F-4ED0-4C3A-871B-F3B0065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82455-60BF-45EA-B27A-9A46ED97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0225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Need and 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0DAE3-5CAE-44AB-9588-F6C69792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How evidence improves financial conversations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CAAEB-D67D-4E30-86D1-C690A889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D9FDB-2C00-4EA1-919C-A2EA581A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135D8-B16A-4245-BFD0-31F05F1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52775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Innovation and technology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20387-08A7-48A2-9724-41D69304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Why the numbers remain trustworthy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E3458-44FA-473E-85C2-DB91F18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86B62-8632-4150-A628-F9C41D4A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79A60-DAB8-48CF-820D-C6599747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05325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Feasibility and roadmap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A48C4-4353-4754-80AF-EB891AD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95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What works now and what comes 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300AD-054B-4873-8A0B-C59351F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D1F33-4D64-4CAA-843F-1B70F0EC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8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C8C86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</p:spTree>
    <p:extLst>
      <p:ext uri="{BB962C8B-B14F-4D97-AF65-F5344CB8AC3E}">
        <p14:creationId xmlns:p14="http://schemas.microsoft.com/office/powerpoint/2010/main" val="1778818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7A880-4864-4844-A7A0-49B6E5A3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BA923-A59E-4CAE-9FC7-CC635000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The gap in everyday business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E83D5-77FB-4DD6-9AFC-B14E3B2C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92684-98E7-4DED-BC2D-4C85ACBD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0872D-5F36-4186-AAA0-7BF62982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19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Small merchants already create useful financial activity every day. Much of it remains in memory, paper receipts and informal conversations.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9772-D3F5-4EBB-A028-F68EECD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Who this affects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C5BDA-F201-4422-B398-6F1A685D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575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92C25"/>
                </a:solidFill>
                <a:latin typeface="Arial"/>
                <a:ea typeface="Arial"/>
                <a:cs typeface="Arial"/>
              </a:rPr>
              <a:t>Kiryana stores, tailors, mechanics and other owner-operated businesses</a:t>
            </a:r>
          </a:p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575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92C25"/>
                </a:solidFill>
                <a:latin typeface="Arial"/>
                <a:ea typeface="Arial"/>
                <a:cs typeface="Arial"/>
              </a:rPr>
              <a:t>Merchants who use Urdu or Roman Urdu more comfortably than accounting software</a:t>
            </a:r>
          </a:p>
          <a:p xmlns:a="http://schemas.openxmlformats.org/drawingml/2006/main">
            <a:pPr marL="215900" indent="-101600">
              <a:spcAft>
                <a:spcPts val="1200"/>
              </a:spcAft>
              <a:buChar char="•"/>
              <a:defRPr sz="1575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92C25"/>
                </a:solidFill>
                <a:latin typeface="Arial"/>
                <a:ea typeface="Arial"/>
                <a:cs typeface="Arial"/>
              </a:rPr>
              <a:t>Businesses that need clearer evidence when speaking with a lender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A3115-34BC-49E2-A60A-51093C0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62100"/>
            <a:ext cx="3857625" cy="466725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073C31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b31c3fb24441f"/>
          <a:srcRect xmlns:a="http://schemas.openxmlformats.org/drawingml/2006/main" l="0" t="11521" r="0" b="115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1714500"/>
            <a:ext cx="2619375" cy="4362450"/>
          </a:xfrm>
          <a:prstGeom xmlns:a="http://schemas.openxmlformats.org/drawingml/2006/main" prst="roundRect">
            <a:avLst>
              <a:gd name="adj" fmla="val 436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EEE87-AD83-4E37-84F8-B33BA505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8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C8C86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</p:spTree>
    <p:extLst>
      <p:ext uri="{BB962C8B-B14F-4D97-AF65-F5344CB8AC3E}">
        <p14:creationId xmlns:p14="http://schemas.microsoft.com/office/powerpoint/2010/main" val="1485872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10592-E304-4F05-92E1-3CE5D99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B1FA5-F473-4232-AAC1-F7B14A5D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The Karobaar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189AD-24E0-4143-AC81-A0DE7164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1CEB4-1494-4E50-A764-2D2FFE31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979DD-B9A6-42B8-94D8-EA0BDC82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AI captures and explains. Deterministic ledger logic computes every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0E5E4-38B7-473D-B2CF-B740DD8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C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9B9B9-2C0C-4DA6-A9D1-01387E4E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C31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FB29F-351B-4F1A-80C9-AA0A41B5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C0FAA-7B73-4608-88E6-6EDE7B4D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43400"/>
            <a:ext cx="1676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Voice note or receipt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165D1-D719-4840-BA8A-A60ED4A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C31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63948-EAF6-4A5A-BD5A-4F1308F3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52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BA2FD-373E-40F2-B742-B4B9A04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43400"/>
            <a:ext cx="1676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Merchant corrects the 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66F52-605D-4020-9284-3F6F9313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C31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71286-6096-498E-96F9-64FAE11D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52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87507-DFF0-4568-8224-B4F34975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43400"/>
            <a:ext cx="1676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Trusted event enters the ledger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5C2D1-6984-431C-A4E3-BA538952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C31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FBB84-5887-457D-A7C8-5F4C3AEC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52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80F61-177B-4DCD-A1CD-2F1CAB11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1676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Dashboard and grounded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E6F32-AB7E-4164-88D2-B7AD5289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C71C8-1F22-4967-8CE1-DB660E3D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E738D-D017-4D7A-9775-6FBEEE6B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43400"/>
            <a:ext cx="1676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Evidence and reminder draft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36FC7-AB96-4C74-9A2F-3CB1CEC2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3C3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79814-604C-4F23-BCD0-242444ED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019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result remains evidence for a financing conversation. The financing institution makes the decision.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CB51F-5665-4E2C-B58E-1F70863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8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C8C86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</p:spTree>
    <p:extLst>
      <p:ext uri="{BB962C8B-B14F-4D97-AF65-F5344CB8AC3E}">
        <p14:creationId xmlns:p14="http://schemas.microsoft.com/office/powerpoint/2010/main" val="397935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0EED7-32AF-4B9A-A6BA-69CD19EB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86FD7-EBF8-4B32-BD56-6DE1DAC9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A working merchant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DE0E2-8DA4-4B9F-BCFB-8A034C9F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2DD1C-A78E-4104-8968-2460CE0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583CC-50BD-478A-8C02-0AFB9D8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The dashboard summarizes confirmed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17A5E-5726-4C5E-9545-7FF0796B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706755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DFF3EB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7001ebb284270"/>
          <a:srcRect xmlns:a="http://schemas.openxmlformats.org/drawingml/2006/main" l="0" t="5801" r="0" b="5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2057400"/>
            <a:ext cx="68961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7D17B-67BC-40AA-BCA1-C622F598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81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The ledger stays searchable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3B842-AE1E-4AA3-B180-59BC63D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3686175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DFF3EB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000d6b3a546ad"/>
          <a:srcRect xmlns:a="http://schemas.openxmlformats.org/drawingml/2006/main" l="4601" t="0" r="46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9100" y="2057400"/>
            <a:ext cx="3514725" cy="2419350"/>
          </a:xfrm>
          <a:prstGeom xmlns:a="http://schemas.openxmlformats.org/drawingml/2006/main" prst="roundRect">
            <a:avLst>
              <a:gd name="adj" fmla="val 472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C8613-0A2F-4D2C-B0B1-C5556BDB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149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In the seeded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D1A81-17F3-4CC6-95B9-48994B79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9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71131-7593-4ACE-95C2-92B90A8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0542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confirmed records across four months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2A1BB-9544-40D6-8737-322918C7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8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C8C86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</p:spTree>
    <p:extLst>
      <p:ext uri="{BB962C8B-B14F-4D97-AF65-F5344CB8AC3E}">
        <p14:creationId xmlns:p14="http://schemas.microsoft.com/office/powerpoint/2010/main" val="516308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4202D-9BFF-49BD-9E96-54000E56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6046-660B-40AB-B14F-0681E2FF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Need and 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7F921-51AE-417E-8132-55FDD9BC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39BE-8A20-48BA-AA5D-70B3A62A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B48B2-7FFA-4753-8E37-9AF8D7D5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65913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1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79b7d8fb64108"/>
          <a:srcRect xmlns:a="http://schemas.openxmlformats.org/drawingml/2006/main" l="0" t="1810" r="0" b="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1752600"/>
            <a:ext cx="6419850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E6994-7ED6-46D4-86B0-601D8BB8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A merchant gains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9BBD1-E6BF-4338-8A8F-0F0C6DA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D8B82-FB9B-4425-A54B-127C5EA5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A clear view of sales, expenses and udhaar without accounting terminology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5CC96-2401-4BA6-A56E-8ACFAA6E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1B479-F295-4430-A08D-C6A086EC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A source-linked business history that grows through normal daily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2063F-BFAC-4D7B-9A2A-8C84042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3071-229B-45C8-B096-F957F556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A more informed financing conversation based on published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55D6F-0CCA-4421-85D6-43CC7B86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91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Karobaar supports the conversation. It does not replace lender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32A8D-F16D-4C69-AAB4-B194CFBA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8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C8C86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</p:spTree>
    <p:extLst>
      <p:ext uri="{BB962C8B-B14F-4D97-AF65-F5344CB8AC3E}">
        <p14:creationId xmlns:p14="http://schemas.microsoft.com/office/powerpoint/2010/main" val="637556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41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F63FC-3F55-43BF-B66C-C3AC0E5A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767F4-D262-4995-9D5D-B51A7A8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 and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6952F-C6EA-4DBA-8467-6B91F49C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D7C8E-CF98-4ADE-B548-7ED06E72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C7B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C7B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40D69-213F-4E41-9885-45BD83F9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Trust comes from the boundary between AI and financial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8C40F-CEBD-4B57-AA59-D0176FB5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49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7C12E-7928-427C-805D-E528CF1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Merchant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B7A97-13FC-4B77-BBDE-96661233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1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1C8"/>
                </a:solidFill>
                <a:latin typeface="Arial"/>
                <a:ea typeface="Arial"/>
                <a:cs typeface="Arial"/>
              </a:rPr>
              <a:t>Next.js 16, React 19, responsive voice and receipt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BDCA7-5EF0-495F-BD4A-312EBFB7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493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E451C-A9FC-4EFE-A601-F6557F1A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05FAF-2FC6-411C-A36E-27ADAEB6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1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1C8"/>
                </a:solidFill>
                <a:latin typeface="Arial"/>
                <a:ea typeface="Arial"/>
                <a:cs typeface="Arial"/>
              </a:rPr>
              <a:t>Groq first, Gemini fallback, deterministic demo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83792-1792-47D0-A04A-5D37CB63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69802-38C4-4E1A-83C5-C447BBD2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Trusted domain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CB4A0-1D5E-41C5-B093-2D7583F0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73C31"/>
                </a:solidFill>
                <a:latin typeface="Arial"/>
                <a:ea typeface="Arial"/>
                <a:cs typeface="Arial"/>
              </a:rPr>
              <a:t>Merchant confirmation, integer paisa, FIFO udhaar settlement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EAE13-A4D3-4C31-8031-D555504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493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EE122-2A4A-4E03-B96A-F7376A6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and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7FF8B-CD90-43A8-B51C-8998F80D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1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D1C8"/>
                </a:solidFill>
                <a:latin typeface="Arial"/>
                <a:ea typeface="Arial"/>
                <a:cs typeface="Arial"/>
              </a:rPr>
              <a:t>FastAPI, SQLAlchemy, verified Supabase identity, merchant scoping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63104-2D0A-4F32-8829-C0CA96E4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Design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4E5F0-1258-4A1E-8CFE-A17B9AA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4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model produces reviewable drafts instead of authoritative records</a:t>
            </a:r>
          </a:p>
          <a:p xmlns:a="http://schemas.openxmlformats.org/drawingml/2006/main">
            <a:pPr marL="215900" indent="-101600">
              <a:spcAft>
                <a:spcPts val="14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Five supported Ask tools retrieve numbers from the ledger</a:t>
            </a:r>
          </a:p>
          <a:p xmlns:a="http://schemas.openxmlformats.org/drawingml/2006/main">
            <a:pPr marL="215900" indent="-101600">
              <a:spcAft>
                <a:spcPts val="14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remains qualitative and explains every gap</a:t>
            </a:r>
          </a:p>
          <a:p xmlns:a="http://schemas.openxmlformats.org/drawingml/2006/main">
            <a:pPr marL="215900" indent="-101600">
              <a:spcAft>
                <a:spcPts val="14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Receipt files require an authenticated ownership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322C9-7F1B-4EA6-83A9-FFF021E7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054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7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C7BD"/>
                </a:solidFill>
                <a:latin typeface="Arial"/>
                <a:ea typeface="Arial"/>
                <a:cs typeface="Arial"/>
              </a:rPr>
              <a:t>The demo remains usable without external AI credentials through a deterministic fallback.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62EAD-F32E-4F11-B9A0-64EE57C1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8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C8C86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</p:spTree>
    <p:extLst>
      <p:ext uri="{BB962C8B-B14F-4D97-AF65-F5344CB8AC3E}">
        <p14:creationId xmlns:p14="http://schemas.microsoft.com/office/powerpoint/2010/main" val="2093691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E7E49-A6B2-4B05-A0A1-B7FAD9C1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B0D58-ED9E-4E1F-A9C0-1E18AA03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92C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92C25"/>
                </a:solidFill>
                <a:latin typeface="Arial"/>
                <a:ea typeface="Arial"/>
                <a:cs typeface="Arial"/>
              </a:rPr>
              <a:t>What we have actually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EF688-AA45-4697-B749-AE4CBF92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539E7-2C55-4C19-83CB-F307E239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4B0D3-4BAD-400F-B432-F4441061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6619875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DFF3EB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ca8829aa04d0b"/>
          <a:srcRect xmlns:a="http://schemas.openxmlformats.org/drawingml/2006/main" l="0" t="1078" r="0" b="1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1752600"/>
            <a:ext cx="6448425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718E8-DBD0-44A4-8792-B693055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2402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2BA01-0466-447F-AEDF-9AEBDE76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02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working product surfaces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71C89-16DA-48D5-B63F-B61F8C2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366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439B3-6AC1-438A-AEBD-EE60DDFE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5272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F8AD1-5C9F-4282-A508-EE962A16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289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source-backed financing programs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726DD-489C-4FBF-AB96-43A622A5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66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186B1-0B1E-43AA-9FE1-9FC9485E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3C31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E3F90-BD33-427E-8E54-E3A565E5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57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automated backend tests passing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A3667-3C2C-4417-A642-1E11258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66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09640-271D-4069-8054-C41213FC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012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49A95-EE2B-426A-87F8-228DFC8F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863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766F"/>
                </a:solidFill>
                <a:latin typeface="Arial"/>
                <a:ea typeface="Arial"/>
                <a:cs typeface="Arial"/>
              </a:rPr>
              <a:t>production dependency vulnerabilities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EE7C0-A685-4FDB-9891-8357244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24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66F"/>
                </a:solidFill>
                <a:latin typeface="Arial"/>
                <a:ea typeface="Arial"/>
                <a:cs typeface="Arial"/>
              </a:rPr>
              <a:t>Verified locally on desktop and mobile. The frontend production build and complete merchant journey pass.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A9BB5-BE24-43AC-9C8E-8CAD9FD3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8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C8C86"/>
                </a:solidFill>
                <a:latin typeface="Arial"/>
                <a:ea typeface="Arial"/>
                <a:cs typeface="Arial"/>
              </a:rPr>
              <a:t>Alibaba Cloud AI Hackathon Pakistan 2026</a:t>
            </a:r>
          </a:p>
        </p:txBody>
      </p:sp>
    </p:spTree>
    <p:extLst>
      <p:ext uri="{BB962C8B-B14F-4D97-AF65-F5344CB8AC3E}">
        <p14:creationId xmlns:p14="http://schemas.microsoft.com/office/powerpoint/2010/main" val="307441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3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2B32D-6E60-456A-B2C9-08984945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KAROBAAR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01707-411E-4C5E-9C01-83AF818D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E8026-13F6-45AF-AD76-34A86C96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D6BBE-7D36-4F60-9196-2193BFB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C7B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C7B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3CAF3-D3E2-4962-B2B5-D9A233ED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Submission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B73C9-A4B2-4B0E-8C29-09F287A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3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capture, confirmation, ledger and Ask flow</a:t>
            </a:r>
          </a:p>
          <a:p xmlns:a="http://schemas.openxmlformats.org/drawingml/2006/main">
            <a:pPr marL="215900" indent="-101600">
              <a:spcAft>
                <a:spcPts val="13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Responsive product interface and deterministic demo data</a:t>
            </a:r>
          </a:p>
          <a:p xmlns:a="http://schemas.openxmlformats.org/drawingml/2006/main">
            <a:pPr marL="215900" indent="-101600">
              <a:spcAft>
                <a:spcPts val="13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 merchant boundaries and protected evidence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60865-482C-46DA-AD73-DC723F1E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46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D363C-77D4-40C8-ACB4-18EACAC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81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Next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A2D39-11C1-42DC-8AFD-E609465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3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Persistent PostgreSQL and managed receipt storage</a:t>
            </a:r>
          </a:p>
          <a:p xmlns:a="http://schemas.openxmlformats.org/drawingml/2006/main">
            <a:pPr marL="215900" indent="-101600">
              <a:spcAft>
                <a:spcPts val="13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Rate limits, file lifecycle controls and production monitoring</a:t>
            </a:r>
          </a:p>
          <a:p xmlns:a="http://schemas.openxmlformats.org/drawingml/2006/main">
            <a:pPr marL="215900" indent="-101600">
              <a:spcAft>
                <a:spcPts val="13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feedback from merchants and financing partners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02154-5270-47DF-BE54-72DD521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DB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DFDBB-43DD-46F5-AFD5-D4BC6250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Karobaar turns everyday business activity into evidence a merchant can understand and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C5259-FBB9-42AB-B745-4A6A963A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7DDB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DDB9"/>
                </a:solidFill>
                <a:latin typeface="Arial"/>
                <a:ea typeface="Arial"/>
                <a:cs typeface="Arial"/>
              </a:rPr>
              <a:t>TEAM KAROBAAR AI</a:t>
            </a:r>
          </a:p>
        </p:txBody>
      </p:sp>
    </p:spTree>
    <p:extLst>
      <p:ext uri="{BB962C8B-B14F-4D97-AF65-F5344CB8AC3E}">
        <p14:creationId xmlns:p14="http://schemas.microsoft.com/office/powerpoint/2010/main" val="461003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2026-09-07T17:18:35.9910000Z</dcterms:created>
  <dcterms:modified xsi:type="dcterms:W3CDTF">2026-09-07T17:18:35.9920000Z</dcterms:modified>
</coreProperties>
</file>